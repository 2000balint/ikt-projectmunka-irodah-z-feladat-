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</p:sldIdLst>
  <p:sldSz cx="12192000" cy="6858000"/>
  <p:notesSz cx="6858000" cy="9144000"/>
  <p:defaultTextStyle>
    <a:defPPr rtl="0">
      <a:defRPr lang="hu-H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F789F9-92BC-D436-F48D-ED7DA739DE7B}" v="25" dt="2026-01-21T11:12:31.9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>
            <a:extLst>
              <a:ext uri="{FF2B5EF4-FFF2-40B4-BE49-F238E27FC236}">
                <a16:creationId xmlns:a16="http://schemas.microsoft.com/office/drawing/2014/main" id="{F7DA8241-5607-40A5-B72F-A5E83F5FFB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0EB955ED-0F06-41CF-A81F-E1B60521C2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745AF7-8D98-4936-89DC-8C69971EB29C}" type="datetime1">
              <a:rPr lang="hu-HU" smtClean="0"/>
              <a:t>2026. 01. 21.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81B6AB70-C67C-4DF5-8372-BF653CC484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45C839E5-E9CD-4706-991C-ED41FC5223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E9E211-9109-4B1F-91A5-D2A1F87CF09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406721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 noProof="0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9CC532-6253-4AD1-A46D-22A4352504D0}" type="datetime1">
              <a:rPr lang="hu-HU" smtClean="0"/>
              <a:pPr/>
              <a:t>2026. 01. 21.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 noProof="0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 noProof="0"/>
              <a:t>Mintaszöveg szerkesztése</a:t>
            </a:r>
          </a:p>
          <a:p>
            <a:pPr lvl="1"/>
            <a:r>
              <a:rPr lang="hu-HU" noProof="0"/>
              <a:t>Második szint</a:t>
            </a:r>
          </a:p>
          <a:p>
            <a:pPr lvl="2"/>
            <a:r>
              <a:rPr lang="hu-HU" noProof="0"/>
              <a:t>Harmadik szint</a:t>
            </a:r>
          </a:p>
          <a:p>
            <a:pPr lvl="3"/>
            <a:r>
              <a:rPr lang="hu-HU" noProof="0"/>
              <a:t>Negyedik szint</a:t>
            </a:r>
          </a:p>
          <a:p>
            <a:pPr lvl="4"/>
            <a:r>
              <a:rPr lang="hu-HU" noProof="0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 noProof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158C7E-4860-4942-BB22-536281E1CD05}" type="slidenum">
              <a:rPr lang="hu-HU" noProof="0" smtClean="0"/>
              <a:t>‹#›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3606880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158C7E-4860-4942-BB22-536281E1CD05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85583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rtlCol="0"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 hasCustomPrompt="1"/>
          </p:nvPr>
        </p:nvSpPr>
        <p:spPr>
          <a:xfrm>
            <a:off x="3962399" y="4385732"/>
            <a:ext cx="7197726" cy="1405467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hu-HU" noProof="0"/>
              <a:t>Alcím mintájának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 rtlCol="0"/>
          <a:lstStyle/>
          <a:p>
            <a:pPr rtl="0"/>
            <a:fld id="{254306D0-186E-4B8C-BE6C-3833E29328B5}" type="datetime1">
              <a:rPr lang="hu-HU" noProof="0" smtClean="0"/>
              <a:t>2026. 01. 21.</a:t>
            </a:fld>
            <a:endParaRPr lang="hu-HU" noProof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 rtlCol="0"/>
          <a:lstStyle/>
          <a:p>
            <a:pPr rtl="0"/>
            <a:endParaRPr lang="hu-HU" noProof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 rtlCol="0"/>
          <a:lstStyle/>
          <a:p>
            <a:pPr rtl="0"/>
            <a:fld id="{D57F1E4F-1CFF-5643-939E-217C01CDF565}" type="slidenum">
              <a:rPr lang="hu-HU" noProof="0" smtClean="0"/>
              <a:pPr rtl="0"/>
              <a:t>‹#›</a:t>
            </a:fld>
            <a:endParaRPr lang="hu-HU" noProof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 rtlCol="0" anchor="ctr"/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3925863-5711-434C-9B81-C86A7528F7AA}" type="datetime1">
              <a:rPr lang="hu-HU" noProof="0" smtClean="0"/>
              <a:t>2026. 01. 21.</a:t>
            </a:fld>
            <a:endParaRPr lang="hu-HU" noProof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noProof="0" smtClean="0"/>
              <a:pPr rtl="0"/>
              <a:t>‹#›</a:t>
            </a:fld>
            <a:endParaRPr lang="hu-HU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rtlCol="0" anchor="b"/>
          <a:lstStyle>
            <a:lvl1pPr algn="l">
              <a:defRPr sz="4000" b="0" cap="all"/>
            </a:lvl1pPr>
          </a:lstStyle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8D194D9-6B21-4350-BBE0-55C535D5CE38}" type="datetime1">
              <a:rPr lang="hu-HU" noProof="0" smtClean="0"/>
              <a:t>2026. 01. 21.</a:t>
            </a:fld>
            <a:endParaRPr lang="hu-HU" noProof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noProof="0" smtClean="0"/>
              <a:pPr rtl="0"/>
              <a:t>‹#›</a:t>
            </a:fld>
            <a:endParaRPr lang="hu-HU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ét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 rtlCol="0">
            <a:normAutofit/>
          </a:bodyPr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 rtlCol="0">
            <a:normAutofit/>
          </a:bodyPr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E5C707F-8DE0-447A-852B-EDD5B8BF046F}" type="datetime1">
              <a:rPr lang="hu-HU" noProof="0" smtClean="0"/>
              <a:t>2026. 01. 21.</a:t>
            </a:fld>
            <a:endParaRPr lang="hu-HU" noProof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noProof="0" smtClean="0"/>
              <a:pPr rtl="0"/>
              <a:t>‹#›</a:t>
            </a:fld>
            <a:endParaRPr lang="hu-HU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 noProof="0"/>
              <a:t>KATTINTSON IDE A MINTASZÖVEG STÍLUSAINAK SZERKESZTÉSÉHEZ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 noProof="0"/>
              <a:t>KATTINTSON IDE A MINTASZÖVEG STÍLUSAINAK SZERKESZTÉSÉHEZ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E508CE8-A139-4F5B-BE7B-820325C3EDE6}" type="datetime1">
              <a:rPr lang="hu-HU" noProof="0" smtClean="0"/>
              <a:pPr rtl="0"/>
              <a:t>2026. 01. 21.</a:t>
            </a:fld>
            <a:r>
              <a:rPr lang="hu-HU" noProof="0"/>
              <a:t>2014. 09. 11.</a:t>
            </a:r>
            <a:fld id="{B61BEF0D-F0BB-DE4B-95CE-6DB70DBA9567}" type="datetimeFigureOut">
              <a:rPr lang="hu-HU" noProof="0" smtClean="0"/>
              <a:pPr rtl="0"/>
              <a:t>2026. 01. 21.</a:t>
            </a:fld>
            <a:endParaRPr lang="hu-HU" noProof="0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noProof="0" smtClean="0"/>
              <a:pPr rtl="0"/>
              <a:t>‹#›</a:t>
            </a:fld>
            <a:r>
              <a:rPr lang="hu-HU" noProof="0"/>
              <a:t>‹#›</a:t>
            </a:r>
            <a:fld id="{D57F1E4F-1CFF-5643-939E-217C01CDF565}" type="slidenum">
              <a:rPr lang="hu-HU" noProof="0" smtClean="0"/>
              <a:pPr rtl="0"/>
              <a:t>‹#›</a:t>
            </a:fld>
            <a:endParaRPr lang="hu-HU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22216B1-6D38-4BF3-8710-36F9D187ABC9}" type="datetime1">
              <a:rPr lang="hu-HU" noProof="0" smtClean="0"/>
              <a:t>2026. 01. 21.</a:t>
            </a:fld>
            <a:endParaRPr lang="hu-HU" noProof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noProof="0" smtClean="0"/>
              <a:pPr rtl="0"/>
              <a:t>‹#›</a:t>
            </a:fld>
            <a:endParaRPr lang="hu-HU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558F88-332D-4F64-85AE-670FD462A2B0}" type="datetime1">
              <a:rPr lang="hu-HU" noProof="0" smtClean="0"/>
              <a:t>2026. 01. 21.</a:t>
            </a:fld>
            <a:endParaRPr lang="hu-HU" noProof="0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noProof="0" smtClean="0"/>
              <a:pPr rtl="0"/>
              <a:t>‹#›</a:t>
            </a:fld>
            <a:endParaRPr lang="hu-HU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rtlCol="0" anchor="ctr">
            <a:normAutofit/>
          </a:bodyPr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1F1A2B6-2659-44C2-96AF-0A33541C9E73}" type="datetime1">
              <a:rPr lang="hu-HU" noProof="0" smtClean="0"/>
              <a:t>2026. 01. 21.</a:t>
            </a:fld>
            <a:endParaRPr lang="hu-HU" noProof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noProof="0" smtClean="0"/>
              <a:pPr rtl="0"/>
              <a:t>‹#›</a:t>
            </a:fld>
            <a:endParaRPr lang="hu-HU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rtlCol="0" anchor="b">
            <a:normAutofit/>
          </a:bodyPr>
          <a:lstStyle>
            <a:lvl1pPr algn="l">
              <a:defRPr sz="2800" b="0"/>
            </a:lvl1pPr>
          </a:lstStyle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14" name="Kép helyőrzőj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hu-HU" noProof="0"/>
              <a:t>Kép hozzáadásához kattintson az ikonra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EDFA4C2-1222-4723-A8F3-50483254F970}" type="datetime1">
              <a:rPr lang="hu-HU" noProof="0" smtClean="0"/>
              <a:t>2026. 01. 21.</a:t>
            </a:fld>
            <a:endParaRPr lang="hu-HU" noProof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noProof="0" smtClean="0"/>
              <a:pPr rtl="0"/>
              <a:t>‹#›</a:t>
            </a:fld>
            <a:endParaRPr lang="hu-HU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Kép helyőrzőj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hu-HU" noProof="0"/>
              <a:t>Kép hozzáadásához kattintson az ikonra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071D005-712B-45ED-B2E4-9CBF5C8C7677}" type="datetime1">
              <a:rPr lang="hu-HU" noProof="0" smtClean="0"/>
              <a:t>2026. 01. 21.</a:t>
            </a:fld>
            <a:endParaRPr lang="hu-HU" noProof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noProof="0" smtClean="0"/>
              <a:pPr rtl="0"/>
              <a:t>‹#›</a:t>
            </a:fld>
            <a:endParaRPr lang="hu-HU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felir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rtlCol="0" anchor="ctr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F420A84-C2C3-4118-9AC6-CDC594CE206C}" type="datetime1">
              <a:rPr lang="hu-HU" noProof="0" smtClean="0"/>
              <a:t>2026. 01. 21.</a:t>
            </a:fld>
            <a:endParaRPr lang="hu-HU" noProof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noProof="0" smtClean="0"/>
              <a:pPr rtl="0"/>
              <a:t>‹#›</a:t>
            </a:fld>
            <a:endParaRPr lang="hu-HU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Kép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Szövegdoboz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hu-HU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Szövegdoboz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hu-HU" sz="8000" noProof="0">
                <a:solidFill>
                  <a:schemeClr val="tx1"/>
                </a:solidFill>
                <a:effectLst/>
              </a:rPr>
              <a:t>„</a:t>
            </a:r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10" name="Szöveg helye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rtlCol="0"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A719D37-6865-4E10-BDC5-D24AF702B874}" type="datetime1">
              <a:rPr lang="hu-HU" noProof="0" smtClean="0"/>
              <a:t>2026. 01. 21.</a:t>
            </a:fld>
            <a:endParaRPr lang="hu-HU" noProof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noProof="0" smtClean="0"/>
              <a:pPr rtl="0"/>
              <a:t>‹#›</a:t>
            </a:fld>
            <a:endParaRPr lang="hu-HU" noProof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je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rtlCol="0" anchor="b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7521EC7-D3BE-46DF-B164-227750B7A238}" type="datetime1">
              <a:rPr lang="hu-HU" noProof="0" smtClean="0"/>
              <a:t>2026. 01. 21.</a:t>
            </a:fld>
            <a:endParaRPr lang="hu-HU" noProof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noProof="0" smtClean="0"/>
              <a:pPr rtl="0"/>
              <a:t>‹#›</a:t>
            </a:fld>
            <a:endParaRPr lang="hu-HU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– névje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Kép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Szövegdoboz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hu-HU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Szövegdoboz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hu-HU" sz="8000" noProof="0">
                <a:solidFill>
                  <a:schemeClr val="tx1"/>
                </a:solidFill>
                <a:effectLst/>
              </a:rPr>
              <a:t>„</a:t>
            </a:r>
          </a:p>
        </p:txBody>
      </p:sp>
      <p:sp>
        <p:nvSpPr>
          <p:cNvPr id="16" name="Cím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10" name="Szöveg helye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hu-HU" noProof="0"/>
              <a:t>Mintaszöveg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8B56918-48AA-499D-A16C-B47673692DDC}" type="datetime1">
              <a:rPr lang="hu-HU" noProof="0" smtClean="0"/>
              <a:t>2026. 01. 21.</a:t>
            </a:fld>
            <a:endParaRPr lang="hu-HU" noProof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noProof="0" smtClean="0"/>
              <a:pPr rtl="0"/>
              <a:t>‹#›</a:t>
            </a:fld>
            <a:endParaRPr lang="hu-HU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 rtl="0"/>
            <a:r>
              <a:rPr lang="hu-HU" noProof="0"/>
              <a:t>Mintacím szerkesztése</a:t>
            </a:r>
          </a:p>
        </p:txBody>
      </p:sp>
      <p:sp>
        <p:nvSpPr>
          <p:cNvPr id="10" name="Szöveg helye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hu-HU" noProof="0"/>
              <a:t>Mintaszöveg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9C484B9-0939-4AB8-8F3C-0AC477385F3C}" type="datetime1">
              <a:rPr lang="hu-HU" noProof="0" smtClean="0"/>
              <a:t>2026. 01. 21.</a:t>
            </a:fld>
            <a:endParaRPr lang="hu-HU" noProof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noProof="0" smtClean="0"/>
              <a:pPr rtl="0"/>
              <a:t>‹#›</a:t>
            </a:fld>
            <a:endParaRPr lang="hu-HU" noProof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156483F-C350-492B-B8E5-BCAE4E729D1A}" type="datetime1">
              <a:rPr lang="hu-HU" noProof="0" smtClean="0"/>
              <a:t>2026. 01. 21.</a:t>
            </a:fld>
            <a:endParaRPr lang="hu-HU" noProof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noProof="0" smtClean="0"/>
              <a:pPr rtl="0"/>
              <a:t>‹#›</a:t>
            </a:fld>
            <a:endParaRPr lang="hu-HU" noProof="0"/>
          </a:p>
        </p:txBody>
      </p:sp>
      <p:sp>
        <p:nvSpPr>
          <p:cNvPr id="8" name="Cím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 rtlCol="0"/>
          <a:lstStyle/>
          <a:p>
            <a:pPr rtl="0"/>
            <a:r>
              <a:rPr lang="hu-HU" noProof="0"/>
              <a:t>Mintacím szerkesztése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 rtlCol="0"/>
          <a:lstStyle/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rtlCol="0" anchor="t"/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8E9466C-AB7D-4514-9693-185EC6E7E5E8}" type="datetime1">
              <a:rPr lang="hu-HU" noProof="0" smtClean="0"/>
              <a:t>2026. 01. 21.</a:t>
            </a:fld>
            <a:endParaRPr lang="hu-HU" noProof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noProof="0" smtClean="0"/>
              <a:pPr rtl="0"/>
              <a:t>‹#›</a:t>
            </a:fld>
            <a:endParaRPr lang="hu-HU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6AF986C8-F945-4BBC-A300-C29748431454}" type="datetime1">
              <a:rPr lang="hu-HU" noProof="0" smtClean="0"/>
              <a:t>2026. 01. 21.</a:t>
            </a:fld>
            <a:endParaRPr lang="hu-HU" noProof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endParaRPr lang="hu-HU" noProof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D57F1E4F-1CFF-5643-939E-217C01CDF565}" type="slidenum">
              <a:rPr lang="hu-HU" noProof="0" smtClean="0"/>
              <a:pPr rtl="0"/>
              <a:t>‹#›</a:t>
            </a:fld>
            <a:endParaRPr lang="hu-HU" noProof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006DB8-195C-B560-C423-A2DFF49BEF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2" b="9199"/>
          <a:stretch>
            <a:fillRect/>
          </a:stretch>
        </p:blipFill>
        <p:spPr>
          <a:xfrm>
            <a:off x="20" y="975"/>
            <a:ext cx="7552924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BF0107-3463-486E-B9EE-5A5727B4F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8213564" y="1964267"/>
            <a:ext cx="3254990" cy="2421464"/>
          </a:xfrm>
        </p:spPr>
        <p:txBody>
          <a:bodyPr rtlCol="0">
            <a:normAutofit/>
          </a:bodyPr>
          <a:lstStyle/>
          <a:p>
            <a:pPr>
              <a:lnSpc>
                <a:spcPct val="90000"/>
              </a:lnSpc>
            </a:pPr>
            <a:r>
              <a:rPr lang="hu-HU" sz="3400">
                <a:ea typeface="Calibri Light"/>
                <a:cs typeface="Calibri Light"/>
              </a:rPr>
              <a:t>EFN IT </a:t>
            </a:r>
            <a:r>
              <a:rPr lang="hu-HU" sz="3400" err="1">
                <a:ea typeface="Calibri Light"/>
                <a:cs typeface="Calibri Light"/>
              </a:rPr>
              <a:t>systems</a:t>
            </a:r>
            <a:r>
              <a:rPr lang="hu-HU" sz="3400">
                <a:ea typeface="Calibri Light"/>
                <a:cs typeface="Calibri Light"/>
              </a:rPr>
              <a:t> </a:t>
            </a:r>
            <a:r>
              <a:rPr lang="hu-HU" sz="3400" err="1">
                <a:ea typeface="Calibri Light"/>
                <a:cs typeface="Calibri Light"/>
              </a:rPr>
              <a:t>administrator</a:t>
            </a:r>
            <a:r>
              <a:rPr lang="hu-HU" sz="3400">
                <a:ea typeface="Calibri Light"/>
                <a:cs typeface="Calibri Light"/>
              </a:rPr>
              <a:t> cég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7651136" y="4376661"/>
            <a:ext cx="3817417" cy="1414538"/>
          </a:xfrm>
        </p:spPr>
        <p:txBody>
          <a:bodyPr rtlCol="0">
            <a:normAutofit/>
          </a:bodyPr>
          <a:lstStyle/>
          <a:p>
            <a:r>
              <a:rPr lang="hu-HU">
                <a:ea typeface="Calibri"/>
                <a:cs typeface="Calibri"/>
              </a:rPr>
              <a:t>Kenyeres </a:t>
            </a:r>
            <a:r>
              <a:rPr lang="hu-HU" err="1">
                <a:ea typeface="Calibri"/>
                <a:cs typeface="Calibri"/>
              </a:rPr>
              <a:t>olivér</a:t>
            </a:r>
            <a:r>
              <a:rPr lang="hu-HU">
                <a:ea typeface="Calibri"/>
                <a:cs typeface="Calibri"/>
              </a:rPr>
              <a:t>, Szirtes </a:t>
            </a:r>
            <a:r>
              <a:rPr lang="hu-HU" err="1">
                <a:ea typeface="Calibri"/>
                <a:cs typeface="Calibri"/>
              </a:rPr>
              <a:t>botond</a:t>
            </a:r>
            <a:r>
              <a:rPr lang="hu-HU">
                <a:ea typeface="Calibri"/>
                <a:cs typeface="Calibri"/>
              </a:rPr>
              <a:t>, Tóth </a:t>
            </a:r>
            <a:r>
              <a:rPr lang="hu-HU" err="1">
                <a:ea typeface="Calibri"/>
                <a:cs typeface="Calibri"/>
              </a:rPr>
              <a:t>bálint</a:t>
            </a:r>
            <a:endParaRPr lang="hu-HU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6593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B102A9B-A1F6-3CA1-E181-C9F9EDA63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7255" y="1030288"/>
            <a:ext cx="4099947" cy="103557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hu-HU" sz="3300">
                <a:ea typeface="Calibri Light"/>
                <a:cs typeface="Calibri Light"/>
              </a:rPr>
              <a:t>Mivel foglalkozik cégünk?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F383652-A5F6-1BED-DE29-380290BE3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7255" y="2142067"/>
            <a:ext cx="4099947" cy="3649133"/>
          </a:xfrm>
        </p:spPr>
        <p:txBody>
          <a:bodyPr>
            <a:normAutofit/>
          </a:bodyPr>
          <a:lstStyle/>
          <a:p>
            <a:r>
              <a:rPr lang="hu-HU">
                <a:ea typeface="Calibri" panose="020F0502020204030204"/>
                <a:cs typeface="Calibri" panose="020F0502020204030204"/>
              </a:rPr>
              <a:t>Hálózatok felépítése</a:t>
            </a:r>
            <a:endParaRPr lang="hu-HU"/>
          </a:p>
          <a:p>
            <a:r>
              <a:rPr lang="hu-HU">
                <a:ea typeface="Calibri" panose="020F0502020204030204"/>
                <a:cs typeface="Calibri" panose="020F0502020204030204"/>
              </a:rPr>
              <a:t>Hálózat konfiguráció</a:t>
            </a:r>
          </a:p>
          <a:p>
            <a:r>
              <a:rPr lang="hu-HU">
                <a:ea typeface="Calibri" panose="020F0502020204030204"/>
                <a:cs typeface="Calibri" panose="020F0502020204030204"/>
              </a:rPr>
              <a:t>Hálózat karbantartása</a:t>
            </a:r>
          </a:p>
          <a:p>
            <a:r>
              <a:rPr lang="hu-HU">
                <a:ea typeface="Calibri" panose="020F0502020204030204"/>
                <a:cs typeface="Calibri" panose="020F0502020204030204"/>
              </a:rPr>
              <a:t>Hálózat bővítés</a:t>
            </a:r>
          </a:p>
          <a:p>
            <a:r>
              <a:rPr lang="hu-HU">
                <a:ea typeface="+mn-lt"/>
                <a:cs typeface="+mn-lt"/>
              </a:rPr>
              <a:t>Vállalati infrastruktúrák kialakítása</a:t>
            </a:r>
          </a:p>
          <a:p>
            <a:r>
              <a:rPr lang="hu-HU">
                <a:ea typeface="+mn-lt"/>
                <a:cs typeface="+mn-lt"/>
              </a:rPr>
              <a:t>Ügyfélbarát, biztonságos IT megoldások biztosítása</a:t>
            </a:r>
            <a:endParaRPr lang="hu-HU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hu-HU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Picture 3" descr="Hálózati alapok, &quot;Behálózás&quot; | Kollégiumi Számítástechnikai Kör">
            <a:extLst>
              <a:ext uri="{FF2B5EF4-FFF2-40B4-BE49-F238E27FC236}">
                <a16:creationId xmlns:a16="http://schemas.microsoft.com/office/drawing/2014/main" id="{20F1F6EB-8E6F-538D-6FCF-B30EDE588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6858" y="639098"/>
            <a:ext cx="4395794" cy="2692424"/>
          </a:xfrm>
          <a:prstGeom prst="roundRect">
            <a:avLst>
              <a:gd name="adj" fmla="val 6267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 descr="Hogy és mennyire tud elhelyezkedni egy kezdő informatikus?">
            <a:extLst>
              <a:ext uri="{FF2B5EF4-FFF2-40B4-BE49-F238E27FC236}">
                <a16:creationId xmlns:a16="http://schemas.microsoft.com/office/drawing/2014/main" id="{A0D73A38-998D-E62F-E0BC-CA2D5C125D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273" y="3522111"/>
            <a:ext cx="5152964" cy="2692424"/>
          </a:xfrm>
          <a:prstGeom prst="roundRect">
            <a:avLst>
              <a:gd name="adj" fmla="val 6267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5399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C2D9ABD-E37E-1C29-7D7F-15223B758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5219699" cy="1456267"/>
          </a:xfrm>
        </p:spPr>
        <p:txBody>
          <a:bodyPr>
            <a:normAutofit/>
          </a:bodyPr>
          <a:lstStyle/>
          <a:p>
            <a:r>
              <a:rPr lang="hu-HU" err="1">
                <a:ea typeface="Calibri Light"/>
                <a:cs typeface="Calibri Light"/>
              </a:rPr>
              <a:t>MIért</a:t>
            </a:r>
            <a:r>
              <a:rPr lang="hu-HU">
                <a:ea typeface="Calibri Light"/>
                <a:cs typeface="Calibri Light"/>
              </a:rPr>
              <a:t> válasszon minket?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7C4D465-1AF6-4941-88F2-7BC465FB2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5219699" cy="3649133"/>
          </a:xfrm>
        </p:spPr>
        <p:txBody>
          <a:bodyPr>
            <a:normAutofit/>
          </a:bodyPr>
          <a:lstStyle/>
          <a:p>
            <a:r>
              <a:rPr lang="hu-HU">
                <a:ea typeface="+mn-lt"/>
                <a:cs typeface="+mn-lt"/>
              </a:rPr>
              <a:t>10+ év vállalati hálózat-fejlesztési tapasztalat</a:t>
            </a:r>
          </a:p>
          <a:p>
            <a:pPr>
              <a:buClr>
                <a:srgbClr val="FFFFFF"/>
              </a:buClr>
            </a:pPr>
            <a:r>
              <a:rPr lang="hu-HU">
                <a:ea typeface="+mn-lt"/>
                <a:cs typeface="+mn-lt"/>
              </a:rPr>
              <a:t>Gyors, hatékony, kiváló munka garantálása</a:t>
            </a:r>
          </a:p>
          <a:p>
            <a:pPr>
              <a:buClr>
                <a:srgbClr val="FFFFFF"/>
              </a:buClr>
            </a:pPr>
            <a:r>
              <a:rPr lang="hu-HU">
                <a:ea typeface="+mn-lt"/>
                <a:cs typeface="+mn-lt"/>
              </a:rPr>
              <a:t>Biztonságos, skálázható, szabványos megoldások</a:t>
            </a:r>
          </a:p>
          <a:p>
            <a:pPr>
              <a:buClr>
                <a:srgbClr val="FFFFFF"/>
              </a:buClr>
            </a:pPr>
            <a:r>
              <a:rPr lang="hu-HU">
                <a:ea typeface="+mn-lt"/>
                <a:cs typeface="+mn-lt"/>
              </a:rPr>
              <a:t>Kiváló ügyfélszolgálat, gyors segélynyújtás</a:t>
            </a:r>
          </a:p>
          <a:p>
            <a:pPr>
              <a:buClr>
                <a:srgbClr val="FFFFFF"/>
              </a:buClr>
            </a:pPr>
            <a:endParaRPr lang="hu-HU">
              <a:ea typeface="Calibri"/>
              <a:cs typeface="Calibri"/>
            </a:endParaRPr>
          </a:p>
        </p:txBody>
      </p:sp>
      <p:pic>
        <p:nvPicPr>
          <p:cNvPr id="4" name="Kép 3" descr="Ritka, mint az olcsó informatikus | Demokrata">
            <a:extLst>
              <a:ext uri="{FF2B5EF4-FFF2-40B4-BE49-F238E27FC236}">
                <a16:creationId xmlns:a16="http://schemas.microsoft.com/office/drawing/2014/main" id="{4CB7B9E4-DC61-D194-1B9F-296C6090FB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876" r="19086" b="1"/>
          <a:stretch>
            <a:fillRect/>
          </a:stretch>
        </p:blipFill>
        <p:spPr>
          <a:xfrm>
            <a:off x="6198830" y="639097"/>
            <a:ext cx="5447070" cy="5250425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773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D03D0F4-E23F-A750-E7B9-CEE93E322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8" y="639097"/>
            <a:ext cx="6593075" cy="1612490"/>
          </a:xfrm>
        </p:spPr>
        <p:txBody>
          <a:bodyPr>
            <a:normAutofit/>
          </a:bodyPr>
          <a:lstStyle/>
          <a:p>
            <a:r>
              <a:rPr lang="hu-HU">
                <a:ea typeface="Calibri Light"/>
                <a:cs typeface="Calibri Light"/>
              </a:rPr>
              <a:t>Két telephelyes rendszer</a:t>
            </a:r>
            <a:endParaRPr lang="hu-HU"/>
          </a:p>
        </p:txBody>
      </p:sp>
      <p:pic>
        <p:nvPicPr>
          <p:cNvPr id="4" name="Kép 3" descr="Millenáris Modern Irodaház Újiroda.hu | A teljes kiadó iroda kínálat  Budapest irodaházaiban">
            <a:extLst>
              <a:ext uri="{FF2B5EF4-FFF2-40B4-BE49-F238E27FC236}">
                <a16:creationId xmlns:a16="http://schemas.microsoft.com/office/drawing/2014/main" id="{F5668D27-A6A1-13B8-7B29-00E38E7FD5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" r="4438" b="-2"/>
          <a:stretch>
            <a:fillRect/>
          </a:stretch>
        </p:blipFill>
        <p:spPr>
          <a:xfrm>
            <a:off x="20" y="975"/>
            <a:ext cx="4635988" cy="6858000"/>
          </a:xfrm>
          <a:prstGeom prst="rect">
            <a:avLst/>
          </a:prstGeom>
        </p:spPr>
      </p:pic>
      <p:sp>
        <p:nvSpPr>
          <p:cNvPr id="3" name="Tartalom helye 2">
            <a:extLst>
              <a:ext uri="{FF2B5EF4-FFF2-40B4-BE49-F238E27FC236}">
                <a16:creationId xmlns:a16="http://schemas.microsoft.com/office/drawing/2014/main" id="{AED8BA5C-6236-4D11-CD32-71D2CE3F4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5458" y="2251587"/>
            <a:ext cx="6593075" cy="3972232"/>
          </a:xfrm>
        </p:spPr>
        <p:txBody>
          <a:bodyPr>
            <a:normAutofit/>
          </a:bodyPr>
          <a:lstStyle/>
          <a:p>
            <a:r>
              <a:rPr lang="hu-HU">
                <a:ea typeface="+mn-lt"/>
                <a:cs typeface="+mn-lt"/>
              </a:rPr>
              <a:t>Két telephely: </a:t>
            </a:r>
            <a:r>
              <a:rPr lang="hu-HU" b="1">
                <a:ea typeface="+mn-lt"/>
                <a:cs typeface="+mn-lt"/>
              </a:rPr>
              <a:t>Eger</a:t>
            </a:r>
            <a:r>
              <a:rPr lang="hu-HU">
                <a:ea typeface="+mn-lt"/>
                <a:cs typeface="+mn-lt"/>
              </a:rPr>
              <a:t> és </a:t>
            </a:r>
            <a:r>
              <a:rPr lang="hu-HU" b="1">
                <a:ea typeface="+mn-lt"/>
                <a:cs typeface="+mn-lt"/>
              </a:rPr>
              <a:t>Kecskemét</a:t>
            </a:r>
            <a:endParaRPr lang="hu-HU"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FFFFFF"/>
              </a:buClr>
            </a:pPr>
            <a:r>
              <a:rPr lang="hu-HU">
                <a:ea typeface="+mn-lt"/>
                <a:cs typeface="+mn-lt"/>
              </a:rPr>
              <a:t>Épületenként 2 emelet, szintenként 15 PC</a:t>
            </a:r>
            <a:endParaRPr lang="hu-HU"/>
          </a:p>
          <a:p>
            <a:pPr>
              <a:buClr>
                <a:srgbClr val="FFFFFF"/>
              </a:buClr>
            </a:pPr>
            <a:r>
              <a:rPr lang="hu-HU">
                <a:ea typeface="+mn-lt"/>
                <a:cs typeface="+mn-lt"/>
              </a:rPr>
              <a:t>Első emelet: 5 vendég, 9 dolgozói és 1 vezetői gép</a:t>
            </a:r>
          </a:p>
          <a:p>
            <a:pPr>
              <a:buClr>
                <a:srgbClr val="FFFFFF"/>
              </a:buClr>
            </a:pPr>
            <a:r>
              <a:rPr lang="hu-HU">
                <a:ea typeface="+mn-lt"/>
                <a:cs typeface="+mn-lt"/>
              </a:rPr>
              <a:t>Második emelet: 5 vendég, 5 dolgozói és 5 vezetői gép</a:t>
            </a:r>
          </a:p>
          <a:p>
            <a:pPr>
              <a:buClr>
                <a:srgbClr val="FFFFFF"/>
              </a:buClr>
            </a:pPr>
            <a:r>
              <a:rPr lang="hu-HU">
                <a:ea typeface="+mn-lt"/>
                <a:cs typeface="+mn-lt"/>
              </a:rPr>
              <a:t>3 különböző felhasználói kategória: Vendég, Dolgozó, Vezetői</a:t>
            </a:r>
            <a:endParaRPr lang="hu-HU"/>
          </a:p>
          <a:p>
            <a:pPr>
              <a:buClr>
                <a:srgbClr val="FFFFFF"/>
              </a:buClr>
            </a:pPr>
            <a:r>
              <a:rPr lang="hu-HU">
                <a:ea typeface="+mn-lt"/>
                <a:cs typeface="+mn-lt"/>
              </a:rPr>
              <a:t>Teljes VLAN szeparáció</a:t>
            </a:r>
            <a:endParaRPr lang="hu-HU"/>
          </a:p>
          <a:p>
            <a:pPr>
              <a:buClr>
                <a:srgbClr val="FFFFFF"/>
              </a:buClr>
            </a:pPr>
            <a:r>
              <a:rPr lang="hu-HU">
                <a:ea typeface="+mn-lt"/>
                <a:cs typeface="+mn-lt"/>
              </a:rPr>
              <a:t>Statikus útvonal telephelyek között</a:t>
            </a:r>
            <a:endParaRPr lang="hu-HU"/>
          </a:p>
          <a:p>
            <a:pPr>
              <a:buClr>
                <a:srgbClr val="FFFFFF"/>
              </a:buClr>
            </a:pPr>
            <a:r>
              <a:rPr lang="hu-HU">
                <a:ea typeface="+mn-lt"/>
                <a:cs typeface="+mn-lt"/>
              </a:rPr>
              <a:t>Redundáns routerek + redundáns switch párok</a:t>
            </a:r>
            <a:endParaRPr lang="hu-HU"/>
          </a:p>
          <a:p>
            <a:pPr>
              <a:buClr>
                <a:srgbClr val="FFFFFF"/>
              </a:buClr>
            </a:pPr>
            <a:endParaRPr lang="hu-HU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8264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Raining Money Wallpapers - Top Free Raining Money Backgrounds ...">
            <a:extLst>
              <a:ext uri="{FF2B5EF4-FFF2-40B4-BE49-F238E27FC236}">
                <a16:creationId xmlns:a16="http://schemas.microsoft.com/office/drawing/2014/main" id="{9C507D85-ACD1-8913-4983-BC03F373F0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3E20F8-074D-4B3B-AE66-7BBD6F1CB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68A5C37-E0A9-462D-BC65-C14D9025F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962026" y="607814"/>
            <a:ext cx="10264775" cy="5640586"/>
          </a:xfrm>
          <a:prstGeom prst="rect">
            <a:avLst/>
          </a:prstGeom>
          <a:solidFill>
            <a:schemeClr val="bg1">
              <a:alpha val="70000"/>
            </a:schemeClr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prstClr val="white"/>
              </a:buClr>
              <a:buSzPct val="100000"/>
              <a:buFont typeface="Arial"/>
              <a:buNone/>
              <a:tabLst/>
              <a:defRPr/>
            </a:pPr>
            <a:endParaRPr kumimoji="0" lang="en-US" sz="1600" b="0" i="0" u="none" strike="noStrike" kern="1200" cap="all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AD714F-EC6B-954B-1396-2294595C4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067" y="787400"/>
            <a:ext cx="9437159" cy="1278467"/>
          </a:xfrm>
        </p:spPr>
        <p:txBody>
          <a:bodyPr>
            <a:normAutofit/>
          </a:bodyPr>
          <a:lstStyle/>
          <a:p>
            <a:pPr algn="ctr"/>
            <a:r>
              <a:rPr lang="en-US" err="1">
                <a:ea typeface="Calibri Light"/>
                <a:cs typeface="Calibri Light"/>
              </a:rPr>
              <a:t>Költségvetés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0CC11-42D3-EDF1-3E34-506066F0C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0067" y="2495852"/>
            <a:ext cx="9437159" cy="185661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err="1">
                <a:ea typeface="Calibri"/>
                <a:cs typeface="Calibri"/>
              </a:rPr>
              <a:t>Hálózati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terv</a:t>
            </a:r>
            <a:r>
              <a:rPr lang="en-US">
                <a:ea typeface="Calibri"/>
                <a:cs typeface="Calibri"/>
              </a:rPr>
              <a:t> + </a:t>
            </a:r>
            <a:r>
              <a:rPr lang="en-US" err="1">
                <a:ea typeface="Calibri"/>
                <a:cs typeface="Calibri"/>
              </a:rPr>
              <a:t>Konfiguráció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terv</a:t>
            </a:r>
            <a:r>
              <a:rPr lang="en-US">
                <a:ea typeface="Calibri"/>
                <a:cs typeface="Calibri"/>
              </a:rPr>
              <a:t> + </a:t>
            </a:r>
            <a:r>
              <a:rPr lang="en-US" err="1">
                <a:ea typeface="Calibri"/>
                <a:cs typeface="Calibri"/>
              </a:rPr>
              <a:t>Felkonfigurálás</a:t>
            </a:r>
          </a:p>
          <a:p>
            <a:pPr marL="0" indent="0" algn="ctr">
              <a:buNone/>
            </a:pPr>
            <a:r>
              <a:rPr lang="en-US" err="1">
                <a:ea typeface="Calibri"/>
                <a:cs typeface="Calibri"/>
              </a:rPr>
              <a:t>Összesen</a:t>
            </a:r>
            <a:r>
              <a:rPr lang="en-US">
                <a:ea typeface="Calibri"/>
                <a:cs typeface="Calibri"/>
              </a:rPr>
              <a:t>: 767.000 Ft</a:t>
            </a:r>
          </a:p>
        </p:txBody>
      </p:sp>
    </p:spTree>
    <p:extLst>
      <p:ext uri="{BB962C8B-B14F-4D97-AF65-F5344CB8AC3E}">
        <p14:creationId xmlns:p14="http://schemas.microsoft.com/office/powerpoint/2010/main" val="2066036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068B7D6-4255-9D69-B201-D9C8CD083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>
                <a:ea typeface="Calibri Light"/>
                <a:cs typeface="Calibri Light"/>
              </a:rPr>
              <a:t>Logikai topológia</a:t>
            </a:r>
            <a:endParaRPr lang="hu-HU"/>
          </a:p>
        </p:txBody>
      </p:sp>
      <p:pic>
        <p:nvPicPr>
          <p:cNvPr id="4" name="Tartalom helye 3" descr="A képen sor, diagram, origami látható&#10;&#10;Lehet, hogy az AI által létrehozott tartalom helytelen.">
            <a:extLst>
              <a:ext uri="{FF2B5EF4-FFF2-40B4-BE49-F238E27FC236}">
                <a16:creationId xmlns:a16="http://schemas.microsoft.com/office/drawing/2014/main" id="{456B1F12-26D7-1F2F-216A-07F16F07DE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57358" y="2142067"/>
            <a:ext cx="4988310" cy="3649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635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CDD454-379F-5FA8-1F90-522A16756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>
                <a:ea typeface="Calibri Light"/>
                <a:cs typeface="Calibri Light"/>
              </a:rPr>
              <a:t>Fizikai topológia</a:t>
            </a:r>
            <a:endParaRPr lang="hu-HU"/>
          </a:p>
        </p:txBody>
      </p:sp>
      <p:pic>
        <p:nvPicPr>
          <p:cNvPr id="4" name="Tartalom helye 3" descr="A képen diagram, Téglalap, sor, képernyőkép látható&#10;&#10;Lehet, hogy az AI által létrehozott tartalom helytelen.">
            <a:extLst>
              <a:ext uri="{FF2B5EF4-FFF2-40B4-BE49-F238E27FC236}">
                <a16:creationId xmlns:a16="http://schemas.microsoft.com/office/drawing/2014/main" id="{1B761DA9-1FBC-BC51-1ADB-10C0C455F6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8428" y="2233038"/>
            <a:ext cx="10131425" cy="2383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509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DD1676-36D9-4A75-660A-EEBDDA6F6496}"/>
              </a:ext>
            </a:extLst>
          </p:cNvPr>
          <p:cNvSpPr txBox="1"/>
          <p:nvPr/>
        </p:nvSpPr>
        <p:spPr>
          <a:xfrm>
            <a:off x="1181099" y="3011714"/>
            <a:ext cx="981891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800" dirty="0" err="1">
                <a:latin typeface="Calibri Light"/>
                <a:ea typeface="Calibri"/>
                <a:cs typeface="Calibri"/>
              </a:rPr>
              <a:t>Köszönjük</a:t>
            </a:r>
            <a:r>
              <a:rPr lang="en-US" sz="4800" dirty="0">
                <a:latin typeface="Calibri Light"/>
                <a:ea typeface="Calibri"/>
                <a:cs typeface="Calibri"/>
              </a:rPr>
              <a:t> a </a:t>
            </a:r>
            <a:r>
              <a:rPr lang="en-US" sz="4800" dirty="0" err="1">
                <a:latin typeface="Calibri Light"/>
                <a:ea typeface="Calibri"/>
                <a:cs typeface="Calibri"/>
              </a:rPr>
              <a:t>figyelmet</a:t>
            </a:r>
            <a:r>
              <a:rPr lang="en-US" sz="4800" dirty="0">
                <a:latin typeface="Calibri Light"/>
                <a:ea typeface="Calibri"/>
                <a:cs typeface="Calibri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0493526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Égi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Application>Microsoft Office PowerPoint</Application>
  <PresentationFormat>Szélesvásznú</PresentationFormat>
  <Slides>8</Slides>
  <Notes>1</Notes>
  <HiddenSlides>0</HiddenSlide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9" baseType="lpstr">
      <vt:lpstr>Égi</vt:lpstr>
      <vt:lpstr>EFN IT systems administrator cég</vt:lpstr>
      <vt:lpstr>Mivel foglalkozik cégünk?</vt:lpstr>
      <vt:lpstr>MIért válasszon minket?</vt:lpstr>
      <vt:lpstr>Két telephelyes rendszer</vt:lpstr>
      <vt:lpstr>Költségvetés</vt:lpstr>
      <vt:lpstr>Logikai topológia</vt:lpstr>
      <vt:lpstr>Fizikai topológia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7</cp:revision>
  <dcterms:created xsi:type="dcterms:W3CDTF">2025-12-10T13:56:34Z</dcterms:created>
  <dcterms:modified xsi:type="dcterms:W3CDTF">2026-01-21T11:13:10Z</dcterms:modified>
</cp:coreProperties>
</file>